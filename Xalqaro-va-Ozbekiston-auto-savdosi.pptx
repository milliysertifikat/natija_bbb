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ublic Sans SemiBold" panose="020B0604020202020204" charset="-94"/>
      <p:regular r:id="rId17"/>
    </p:embeddedFont>
    <p:embeddedFont>
      <p:font typeface="Public Sans Bold" panose="020B0604020202020204" charset="-94"/>
      <p:regular r:id="rId18"/>
    </p:embeddedFont>
    <p:embeddedFont>
      <p:font typeface="Sora SemiBold" panose="020B0604020202020204" charset="0"/>
      <p:regular r:id="rId19"/>
    </p:embeddedFont>
    <p:embeddedFont>
      <p:font typeface="Public Sans" panose="020B0604020202020204" charset="-94"/>
      <p:regular r:id="rId20"/>
    </p:embeddedFont>
    <p:embeddedFont>
      <p:font typeface="Public Sans Medium" panose="020B0604020202020204" charset="-94"/>
      <p:regular r:id="rId21"/>
    </p:embeddedFont>
    <p:embeddedFont>
      <p:font typeface="Sora Extra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01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52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>
              <a:alpha val="88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1041400"/>
            <a:ext cx="8756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GLOBAL MARKET · UZBEKISTON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325166"/>
            <a:ext cx="814684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0" spc="-108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Xalqaro va O‘zbekiston auto savdosi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5156" y="4324350"/>
            <a:ext cx="814684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Global avtomobil savdosi, O‘zbekiston bozori va keyingi o‘sish imkoniyatlarini bitta qarashda tushuntirish.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5156" y="5416550"/>
            <a:ext cx="87564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Bozor hajmi · ishlab chiqarish · import · elektromobillar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11182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kern="0" spc="58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01 · ASOSIY SIGNAL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09585" y="759321"/>
            <a:ext cx="6502237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900" kern="0" spc="-19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Bozor bir vaqtning o‘zida uch tomonga o‘zgarmoqda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585" y="1110059"/>
            <a:ext cx="6502237" cy="300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Bir qarashda uchta kuch ko‘rinadi: global zanjirlar qayta taqsimlanmoqda, texnologiya Xitoy tomon tortilmoqda, O‘zbekistonda esa ichki auto-savdo tezlashmoqda.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42457" y="5790194"/>
            <a:ext cx="6502237" cy="236537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2024-yil ichki auto-savdo hajmi: </a:t>
            </a:r>
            <a:r>
              <a:rPr lang="en-US" sz="750" b="1" dirty="0">
                <a:solidFill>
                  <a:srgbClr val="53627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112 841,4 mlrd so‘m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48967" y="2360920"/>
            <a:ext cx="2096685" cy="112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Ishlab chiqarish va yetkazib berish zanjirlari qayta taqsimlanmoqda.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  <p:grpSp>
        <p:nvGrpSpPr>
          <p:cNvPr id="24" name="Группа 23"/>
          <p:cNvGrpSpPr/>
          <p:nvPr/>
        </p:nvGrpSpPr>
        <p:grpSpPr>
          <a:xfrm>
            <a:off x="1648968" y="1939164"/>
            <a:ext cx="1622625" cy="345762"/>
            <a:chOff x="795984" y="2160833"/>
            <a:chExt cx="1622625" cy="345762"/>
          </a:xfrm>
        </p:grpSpPr>
        <p:sp>
          <p:nvSpPr>
            <p:cNvPr id="7" name="Shape 5"/>
            <p:cNvSpPr/>
            <p:nvPr/>
          </p:nvSpPr>
          <p:spPr>
            <a:xfrm>
              <a:off x="795984" y="2182316"/>
              <a:ext cx="265106" cy="226616"/>
            </a:xfrm>
            <a:prstGeom prst="roundRect">
              <a:avLst>
                <a:gd name="adj" fmla="val 17148"/>
              </a:avLst>
            </a:prstGeom>
            <a:solidFill>
              <a:srgbClr val="0E7C86"/>
            </a:solidFill>
            <a:ln/>
          </p:spPr>
          <p:txBody>
            <a:bodyPr/>
            <a:lstStyle/>
            <a:p>
              <a:endParaRPr lang="ru-RU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27532" y="2160833"/>
              <a:ext cx="1191077" cy="3457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sz="1450" kern="0" spc="-14" dirty="0">
                  <a:solidFill>
                    <a:srgbClr val="3A4756"/>
                  </a:solidFill>
                  <a:latin typeface="Public Sans" pitchFamily="34" charset="0"/>
                  <a:ea typeface="Public Sans" pitchFamily="34" charset="-122"/>
                  <a:cs typeface="Public Sans" pitchFamily="34" charset="-120"/>
                </a:rPr>
                <a:t>Global oqim</a:t>
              </a:r>
              <a:endParaRPr lang="en-US" sz="1450" dirty="0"/>
            </a:p>
          </p:txBody>
        </p:sp>
        <p:sp>
          <p:nvSpPr>
            <p:cNvPr id="23" name="Text 11"/>
            <p:cNvSpPr/>
            <p:nvPr/>
          </p:nvSpPr>
          <p:spPr>
            <a:xfrm>
              <a:off x="864357" y="2243767"/>
              <a:ext cx="196733" cy="1295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3000"/>
                </a:lnSpc>
                <a:buNone/>
              </a:pPr>
              <a:r>
                <a:rPr lang="en-US" sz="1000" dirty="0" smtClean="0">
                  <a:solidFill>
                    <a:srgbClr val="FFFFFF"/>
                  </a:solidFill>
                  <a:latin typeface="Public Sans SemiBold" pitchFamily="34" charset="0"/>
                  <a:ea typeface="Public Sans SemiBold" pitchFamily="34" charset="-122"/>
                  <a:cs typeface="Public Sans SemiBold" pitchFamily="34" charset="-120"/>
                </a:rPr>
                <a:t>01</a:t>
              </a:r>
              <a:endParaRPr lang="en-US" sz="1000" dirty="0"/>
            </a:p>
          </p:txBody>
        </p:sp>
      </p:grpSp>
      <p:sp>
        <p:nvSpPr>
          <p:cNvPr id="25" name="Text 9"/>
          <p:cNvSpPr/>
          <p:nvPr/>
        </p:nvSpPr>
        <p:spPr>
          <a:xfrm>
            <a:off x="4432517" y="2340439"/>
            <a:ext cx="2096685" cy="112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7000"/>
              </a:lnSpc>
            </a:pP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Elektromobillar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o‘sishi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savdo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xaritasini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Xitoy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tomon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tortmoqda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400" dirty="0"/>
          </a:p>
        </p:txBody>
      </p:sp>
      <p:grpSp>
        <p:nvGrpSpPr>
          <p:cNvPr id="26" name="Группа 25"/>
          <p:cNvGrpSpPr/>
          <p:nvPr/>
        </p:nvGrpSpPr>
        <p:grpSpPr>
          <a:xfrm>
            <a:off x="4432518" y="1918683"/>
            <a:ext cx="1622625" cy="345762"/>
            <a:chOff x="795984" y="2160833"/>
            <a:chExt cx="1622625" cy="345762"/>
          </a:xfrm>
        </p:grpSpPr>
        <p:sp>
          <p:nvSpPr>
            <p:cNvPr id="27" name="Shape 5"/>
            <p:cNvSpPr/>
            <p:nvPr/>
          </p:nvSpPr>
          <p:spPr>
            <a:xfrm>
              <a:off x="795984" y="2182316"/>
              <a:ext cx="265106" cy="226616"/>
            </a:xfrm>
            <a:prstGeom prst="roundRect">
              <a:avLst>
                <a:gd name="adj" fmla="val 17148"/>
              </a:avLst>
            </a:prstGeom>
            <a:solidFill>
              <a:srgbClr val="0E7C86"/>
            </a:solidFill>
            <a:ln/>
          </p:spPr>
          <p:txBody>
            <a:bodyPr/>
            <a:lstStyle/>
            <a:p>
              <a:endParaRPr lang="ru-RU" sz="1100" dirty="0"/>
            </a:p>
          </p:txBody>
        </p:sp>
        <p:sp>
          <p:nvSpPr>
            <p:cNvPr id="28" name="Text 8"/>
            <p:cNvSpPr/>
            <p:nvPr/>
          </p:nvSpPr>
          <p:spPr>
            <a:xfrm>
              <a:off x="1227532" y="2160833"/>
              <a:ext cx="1191077" cy="3457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50" kern="0" spc="-14" dirty="0" err="1">
                  <a:solidFill>
                    <a:srgbClr val="3A4756"/>
                  </a:solidFill>
                  <a:latin typeface="Public Sans" pitchFamily="34" charset="0"/>
                  <a:ea typeface="Public Sans" pitchFamily="34" charset="-122"/>
                  <a:cs typeface="Public Sans" pitchFamily="34" charset="-120"/>
                </a:rPr>
                <a:t>Texnologiya</a:t>
              </a:r>
              <a:endParaRPr lang="en-US" sz="1450" dirty="0"/>
            </a:p>
          </p:txBody>
        </p:sp>
        <p:sp>
          <p:nvSpPr>
            <p:cNvPr id="29" name="Text 11"/>
            <p:cNvSpPr/>
            <p:nvPr/>
          </p:nvSpPr>
          <p:spPr>
            <a:xfrm>
              <a:off x="864357" y="2243767"/>
              <a:ext cx="196733" cy="1295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3000"/>
                </a:lnSpc>
                <a:buNone/>
              </a:pPr>
              <a:r>
                <a:rPr lang="en-US" sz="1000" dirty="0">
                  <a:solidFill>
                    <a:srgbClr val="FFFFFF"/>
                  </a:solidFill>
                  <a:latin typeface="Public Sans SemiBold" pitchFamily="34" charset="0"/>
                  <a:ea typeface="Public Sans SemiBold" pitchFamily="34" charset="-122"/>
                  <a:cs typeface="Public Sans SemiBold" pitchFamily="34" charset="-120"/>
                </a:rPr>
                <a:t>02</a:t>
              </a:r>
              <a:endParaRPr lang="en-US" sz="1000" dirty="0"/>
            </a:p>
          </p:txBody>
        </p:sp>
      </p:grpSp>
      <p:sp>
        <p:nvSpPr>
          <p:cNvPr id="31" name="Text 9"/>
          <p:cNvSpPr/>
          <p:nvPr/>
        </p:nvSpPr>
        <p:spPr>
          <a:xfrm>
            <a:off x="7217916" y="2339271"/>
            <a:ext cx="2096685" cy="112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7000"/>
              </a:lnSpc>
            </a:pP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Ichki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smtClean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auto-</a:t>
            </a:r>
            <a:r>
              <a:rPr lang="en-US" sz="1400" dirty="0" err="1" smtClean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savdo</a:t>
            </a:r>
            <a:endParaRPr lang="en-US" sz="1400" dirty="0" smtClean="0">
              <a:solidFill>
                <a:srgbClr val="3A4756"/>
              </a:solidFill>
              <a:latin typeface="Public Sans" pitchFamily="34" charset="0"/>
              <a:ea typeface="Public Sans" pitchFamily="34" charset="-122"/>
              <a:cs typeface="Public Sans" pitchFamily="34" charset="-120"/>
            </a:endParaRPr>
          </a:p>
          <a:p>
            <a:pPr>
              <a:lnSpc>
                <a:spcPct val="97000"/>
              </a:lnSpc>
            </a:pPr>
            <a:r>
              <a:rPr lang="en-US" sz="1400" dirty="0" smtClean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2024-yilda 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112 841,4 </a:t>
            </a: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mlrd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so‘mga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yetdi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400" dirty="0"/>
          </a:p>
        </p:txBody>
      </p:sp>
      <p:grpSp>
        <p:nvGrpSpPr>
          <p:cNvPr id="32" name="Группа 31"/>
          <p:cNvGrpSpPr/>
          <p:nvPr/>
        </p:nvGrpSpPr>
        <p:grpSpPr>
          <a:xfrm>
            <a:off x="7217917" y="1917515"/>
            <a:ext cx="1622625" cy="345762"/>
            <a:chOff x="795984" y="2160833"/>
            <a:chExt cx="1622625" cy="345762"/>
          </a:xfrm>
        </p:grpSpPr>
        <p:sp>
          <p:nvSpPr>
            <p:cNvPr id="33" name="Shape 5"/>
            <p:cNvSpPr/>
            <p:nvPr/>
          </p:nvSpPr>
          <p:spPr>
            <a:xfrm>
              <a:off x="795984" y="2182316"/>
              <a:ext cx="265106" cy="226616"/>
            </a:xfrm>
            <a:prstGeom prst="roundRect">
              <a:avLst>
                <a:gd name="adj" fmla="val 17148"/>
              </a:avLst>
            </a:prstGeom>
            <a:solidFill>
              <a:srgbClr val="0E7C86"/>
            </a:solidFill>
            <a:ln/>
          </p:spPr>
          <p:txBody>
            <a:bodyPr/>
            <a:lstStyle/>
            <a:p>
              <a:endParaRPr lang="ru-RU" sz="1100" dirty="0"/>
            </a:p>
          </p:txBody>
        </p:sp>
        <p:sp>
          <p:nvSpPr>
            <p:cNvPr id="34" name="Text 8"/>
            <p:cNvSpPr/>
            <p:nvPr/>
          </p:nvSpPr>
          <p:spPr>
            <a:xfrm>
              <a:off x="1227532" y="2160833"/>
              <a:ext cx="1191077" cy="3457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50" kern="0" spc="-14" dirty="0" err="1">
                  <a:solidFill>
                    <a:srgbClr val="3A4756"/>
                  </a:solidFill>
                  <a:latin typeface="Public Sans" pitchFamily="34" charset="0"/>
                  <a:ea typeface="Public Sans" pitchFamily="34" charset="-122"/>
                  <a:cs typeface="Public Sans" pitchFamily="34" charset="-120"/>
                </a:rPr>
                <a:t>O‘zbekiston</a:t>
              </a:r>
              <a:endParaRPr lang="en-US" sz="1450" dirty="0"/>
            </a:p>
          </p:txBody>
        </p:sp>
        <p:sp>
          <p:nvSpPr>
            <p:cNvPr id="35" name="Text 11"/>
            <p:cNvSpPr/>
            <p:nvPr/>
          </p:nvSpPr>
          <p:spPr>
            <a:xfrm>
              <a:off x="864357" y="2243767"/>
              <a:ext cx="196733" cy="1295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3000"/>
                </a:lnSpc>
                <a:buNone/>
              </a:pPr>
              <a:r>
                <a:rPr lang="en-US" sz="1000" dirty="0" smtClean="0">
                  <a:solidFill>
                    <a:srgbClr val="FFFFFF"/>
                  </a:solidFill>
                  <a:latin typeface="Public Sans SemiBold" pitchFamily="34" charset="0"/>
                  <a:ea typeface="Public Sans SemiBold" pitchFamily="34" charset="-122"/>
                  <a:cs typeface="Public Sans SemiBold" pitchFamily="34" charset="-120"/>
                </a:rPr>
                <a:t>03</a:t>
              </a:r>
              <a:endParaRPr lang="en-US" sz="1000" dirty="0"/>
            </a:p>
          </p:txBody>
        </p:sp>
      </p:grpSp>
      <p:pic>
        <p:nvPicPr>
          <p:cNvPr id="36" name="Рисунок 3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05"/>
          <a:stretch/>
        </p:blipFill>
        <p:spPr>
          <a:xfrm>
            <a:off x="1542457" y="3264803"/>
            <a:ext cx="8503452" cy="31679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1118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02 · GLOBAL MARKAZ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50223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Global auto-savdo xaritasida Xitoy markazga chiqdi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650223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Xalqaro ishlab chiqarish va elektromobil zanjirlarida Xitoyning roli keskin kuchaydi.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839244"/>
            <a:ext cx="6349841" cy="27953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720358"/>
            <a:ext cx="6502237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 nimani anglatadi? 2024-yilda 17,3 mln elektromobil ishlab chiqarildi; Xitoyning ulushi 12,4 mln dona, ya’ni 70 foizdan ortiq.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0"/>
            <a:ext cx="4470288" cy="68665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1118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03 · YEVROPA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502237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kern="0" spc="-28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Yevropa ishlab chiqarishi tiklandi, ammo 2024-yilda pasaydi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905794"/>
            <a:ext cx="650223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OICA ma’lumotlariga ko‘ra, Yevropa avtomobil ishlab chiqarishi 2023-yildagi 18,1 mln donadan 2024-yilda 17,2 mln donaga tushdi.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038574"/>
            <a:ext cx="5968851" cy="24141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538490"/>
            <a:ext cx="6502237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 nimani anglatadi? Tiklanishdan keyingi baza saqlanmadi: 2024-yilda ishlab chiqarish 0,87 mln donaga qisqardi.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1118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04 · O‘ZBEKISTON BOZORI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50223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O‘zbekiston auto-savdosi 2022–2024-yillarda tezlashdi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650223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Avtomobillar va ehtiyot qismlari savdo hajmi 2022-yildagi 63 074,5 mlrd so‘mdan 2024-yilda 112 841,4 mlrd so‘mga ko‘tarildi.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839244"/>
            <a:ext cx="6349841" cy="2731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656759"/>
            <a:ext cx="6502237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 nimani anglatadi? Ikki yilda bozor hajmi qariyb ikki baravar oshdi; o‘sish 2023-yilda keskin tezlashdi.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1118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05 · ISHLAB CHIQARISH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50223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2025-yil ishlab chiqarishi yangi pikni ko‘rsatdi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650223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O‘zbekistondagi avtomobil zavodlari 2025-yilda 457 900 dona yengil avtomobil ishlab chiqardi — 2024-yildagi 429 100 donaga nisbatan 6,7 foiz ko‘p.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152279"/>
            <a:ext cx="6349841" cy="24141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652195"/>
            <a:ext cx="6502237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 nimani anglatadi? Ishlab chiqarish hajmi o‘smoqda; 2025-yil yangi yuqori nuqtani qayd etdi.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00000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06 · RAQOBAT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Model tarkibi o‘zgarib, raqobat kengaymoqda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Chevrolet ulushi qisqarmoqda, BYD, Chery va Haval ishlab chiqarishi esa tez o‘smoqda.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71092"/>
          <a:ext cx="9143771" cy="914400"/>
        </p:xfrm>
        <a:graphic>
          <a:graphicData uri="http://schemas.openxmlformats.org/drawingml/2006/table">
            <a:tbl>
              <a:tblPr/>
              <a:tblGrid>
                <a:gridCol w="307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0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0" spc="92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BREND YOKI MODEL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0" spc="92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2024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0" spc="92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2025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0" spc="92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YO‘NALISH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Chevrolet ulushi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87,9%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83,2%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Pasayish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BYD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4 004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20 200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Keskin o‘sish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Chery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7 072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9 354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O‘sish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Haval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3 315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9 344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O‘sish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593034"/>
            <a:ext cx="10972526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 nimani anglatadi? Bozor hajmi o‘sishi bilan birga, ishlab chiqarish tarkibi ham ko‘proq brendlar tomon ochilmoqda.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07 · IMPORT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095848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Import talabi ichki ishlab chiqarishdan tezroq diversifikatsiyalanmoqda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474615"/>
            <a:ext cx="609584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2025-yilda barcha transport vositalari, ehtiyot qismlar va yarim tayyor vositalar importi 3,7 mlrd dollardan oshdi; yo‘lovchi avtomobillari importi 1,2 mlrd dollar bo‘ldi.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607395"/>
            <a:ext cx="2984425" cy="2368748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3810595"/>
            <a:ext cx="464630" cy="377825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920727" y="3880743"/>
            <a:ext cx="8583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34984" y="4274741"/>
            <a:ext cx="2933627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812780" y="4404916"/>
            <a:ext cx="257803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Qisqa muddat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780" y="4971951"/>
            <a:ext cx="257803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Import — tanlov va texnologiya manbai.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721007" y="3607395"/>
            <a:ext cx="2984425" cy="2368748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24202" y="3810595"/>
            <a:ext cx="511857" cy="377825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032149" y="3880743"/>
            <a:ext cx="90554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3746406" y="4274741"/>
            <a:ext cx="2933627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3924202" y="4404916"/>
            <a:ext cx="257803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Uzoq muddat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24202" y="4971951"/>
            <a:ext cx="257803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Import tarkibi mahalliy komponentlar va servis ekotizimini talab qiladi.</a:t>
            </a:r>
            <a:endParaRPr lang="en-US" sz="14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9585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1118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08 · TASHQI SAVDO KORIDORLARI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502237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O‘zbekiston tashqi savdosining asosiy koridorlari Osiyo bilan bog‘langan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474615"/>
            <a:ext cx="650223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2025-yil yanvar–sentabrida O‘zbekiston tashqi savdo aylanmasi 59,8 mlrd dollar bo‘ldi.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294360"/>
            <a:ext cx="6349841" cy="2287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667177"/>
            <a:ext cx="6502237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 nimani anglatadi? Xitoy va Rossiya asosiy savdo tugunlari bo‘lib qolmoqda; mintaqaviy koridorlar auto-savdo uchun strategik ahamiyatga ega.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36600"/>
            <a:ext cx="1091537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09 · KEYINGI SAVOL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020366"/>
            <a:ext cx="10305792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0" spc="-84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Elektr avtomobillar savdo xaritasini qayta chizmoqda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65156" y="2658666"/>
            <a:ext cx="103057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Global elektromobil ishlab chiqarishining katta qismi Xitoyda jamlangan; bu batareya, dasturiy ta’minot va narx bo‘yicha yangi raqobat mezonini yaratmoqda.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8351" y="3776266"/>
            <a:ext cx="32320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BO‘G‘IN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8351" y="4060031"/>
            <a:ext cx="302887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0" spc="-27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Batareya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8351" y="4524177"/>
            <a:ext cx="3232069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Xitoy markaziy o‘rin tutadi.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03615" y="3776266"/>
            <a:ext cx="32320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GLOBAL SIGNAL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03615" y="4060031"/>
            <a:ext cx="302887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0" spc="-27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Platforma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03615" y="4524177"/>
            <a:ext cx="3232069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OEMlar tez yangilanmoqda.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38879" y="3776266"/>
            <a:ext cx="32320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O‘ZBEKISTON UCHUN SAVOL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8879" y="4060031"/>
            <a:ext cx="302887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0" spc="-27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Servis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38879" y="4524177"/>
            <a:ext cx="302887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Kadr va ehtiyot qismlar bazasi bormi?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65156" y="5429647"/>
            <a:ext cx="109153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 nimani anglatadi? Keyingi raqobat faqat avtomobil narxida emas — batareya, platforma va servis qiymat zanjirida bo‘ladi.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560</Words>
  <Application>Microsoft Office PowerPoint</Application>
  <PresentationFormat>Широкоэкранный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Calibri</vt:lpstr>
      <vt:lpstr>Public Sans SemiBold</vt:lpstr>
      <vt:lpstr>Public Sans Bold</vt:lpstr>
      <vt:lpstr>Sora SemiBold</vt:lpstr>
      <vt:lpstr>Public Sans</vt:lpstr>
      <vt:lpstr>Public Sans Medium</vt:lpstr>
      <vt:lpstr>Sora ExtraBold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dell</cp:lastModifiedBy>
  <cp:revision>3</cp:revision>
  <dcterms:created xsi:type="dcterms:W3CDTF">2026-09-25T16:59:42Z</dcterms:created>
  <dcterms:modified xsi:type="dcterms:W3CDTF">2026-09-26T04:55:29Z</dcterms:modified>
</cp:coreProperties>
</file>